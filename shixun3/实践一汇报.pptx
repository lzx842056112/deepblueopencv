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61" r:id="rId7"/>
    <p:sldId id="262" r:id="rId8"/>
    <p:sldId id="282" r:id="rId9"/>
    <p:sldId id="264" r:id="rId10"/>
    <p:sldId id="278" r:id="rId11"/>
    <p:sldId id="283" r:id="rId12"/>
    <p:sldId id="292" r:id="rId13"/>
    <p:sldId id="284" r:id="rId14"/>
    <p:sldId id="285" r:id="rId15"/>
    <p:sldId id="286" r:id="rId16"/>
    <p:sldId id="287" r:id="rId17"/>
    <p:sldId id="288" r:id="rId18"/>
    <p:sldId id="268" r:id="rId19"/>
    <p:sldId id="289" r:id="rId20"/>
    <p:sldId id="290" r:id="rId21"/>
    <p:sldId id="272" r:id="rId22"/>
    <p:sldId id="291" r:id="rId23"/>
    <p:sldId id="277" r:id="rId24"/>
  </p:sldIdLst>
  <p:sldSz cx="12192000" cy="6858000"/>
  <p:notesSz cx="6858000" cy="12192000"/>
  <p:embeddedFontLst>
    <p:embeddedFont>
      <p:font typeface="MiSans" pitchFamily="34" charset="-122"/>
      <p:regular r:id="rId28"/>
    </p:embeddedFont>
    <p:embeddedFont>
      <p:font typeface="MiSans" pitchFamily="34" charset="-120"/>
      <p:regular r:id="rId29"/>
    </p:embeddedFont>
    <p:embeddedFont>
      <p:font typeface="Calibri" panose="020F0502020204030204" charset="0"/>
      <p:regular r:id="rId30"/>
      <p:bold r:id="rId31"/>
      <p:italic r:id="rId32"/>
      <p:boldItalic r:id="rId33"/>
    </p:embeddedFont>
    <p:embeddedFont>
      <p:font typeface="等线" panose="02010600030101010101" charset="-122"/>
      <p:regular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4" Type="http://schemas.openxmlformats.org/officeDocument/2006/relationships/font" Target="fonts/font7.fntdata"/><Relationship Id="rId33" Type="http://schemas.openxmlformats.org/officeDocument/2006/relationships/font" Target="fonts/font6.fntdata"/><Relationship Id="rId32" Type="http://schemas.openxmlformats.org/officeDocument/2006/relationships/font" Target="fonts/font5.fntdata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jpeg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1" Type="http://schemas.openxmlformats.org/officeDocument/2006/relationships/notesSlide" Target="../notesSlides/notesSlide20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5-d3l4jk8s8jdo4os5ekr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345" y="1464310"/>
            <a:ext cx="7549515" cy="19075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zh-CN" altLang="en-US" sz="5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实践一</a:t>
            </a:r>
            <a:r>
              <a:rPr lang="en-US" sz="5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74345" y="688975"/>
            <a:ext cx="1134999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824355" y="5798503"/>
            <a:ext cx="2620010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汇报人：李宗效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058910" y="5798503"/>
            <a:ext cx="253555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时间：2025/12/24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rot="5400000">
            <a:off x="537210" y="351409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8" name="Text 5"/>
          <p:cNvSpPr/>
          <p:nvPr/>
        </p:nvSpPr>
        <p:spPr>
          <a:xfrm rot="5400000">
            <a:off x="537210" y="351409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799465" y="351409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0" name="Text 7"/>
          <p:cNvSpPr/>
          <p:nvPr/>
        </p:nvSpPr>
        <p:spPr>
          <a:xfrm rot="5400000">
            <a:off x="799465" y="351409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 rot="5400000">
            <a:off x="1061720" y="351409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2" name="Text 9"/>
          <p:cNvSpPr/>
          <p:nvPr/>
        </p:nvSpPr>
        <p:spPr>
          <a:xfrm rot="5400000">
            <a:off x="1061720" y="351409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rot="5400000">
            <a:off x="1323975" y="3514090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 rot="5400000">
            <a:off x="1323975" y="351409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 rot="5400000">
            <a:off x="537210" y="5860415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16" name="Text 13"/>
          <p:cNvSpPr/>
          <p:nvPr/>
        </p:nvSpPr>
        <p:spPr>
          <a:xfrm rot="5400000">
            <a:off x="537210" y="5860415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 rot="5400000">
            <a:off x="950595" y="5860415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18" name="Text 15"/>
          <p:cNvSpPr/>
          <p:nvPr/>
        </p:nvSpPr>
        <p:spPr>
          <a:xfrm rot="5400000">
            <a:off x="950595" y="5860415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 rot="5400000">
            <a:off x="1363980" y="5860415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0" name="Text 17"/>
          <p:cNvSpPr/>
          <p:nvPr/>
        </p:nvSpPr>
        <p:spPr>
          <a:xfrm rot="5400000">
            <a:off x="1363980" y="5860415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37210" y="6399530"/>
            <a:ext cx="1122807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2" name="Shape 19"/>
          <p:cNvSpPr/>
          <p:nvPr/>
        </p:nvSpPr>
        <p:spPr>
          <a:xfrm rot="5400000">
            <a:off x="7710805" y="5860415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3" name="Text 20"/>
          <p:cNvSpPr/>
          <p:nvPr/>
        </p:nvSpPr>
        <p:spPr>
          <a:xfrm rot="5400000">
            <a:off x="7710805" y="5860415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 rot="5400000">
            <a:off x="8124190" y="5860415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5" name="Text 22"/>
          <p:cNvSpPr/>
          <p:nvPr/>
        </p:nvSpPr>
        <p:spPr>
          <a:xfrm rot="5400000">
            <a:off x="8124190" y="5860415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 rot="5400000">
            <a:off x="8537575" y="5860415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7" name="Text 24"/>
          <p:cNvSpPr/>
          <p:nvPr/>
        </p:nvSpPr>
        <p:spPr>
          <a:xfrm rot="5400000">
            <a:off x="8537575" y="5860415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6-d3l4jkgs8jdo4os5ekt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2667635" y="-2666365"/>
            <a:ext cx="6858000" cy="121913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3:05-d3l4jk8s8jdo4os5ekr0.jpeg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2065" y="-1270"/>
            <a:ext cx="12192000" cy="6859270"/>
          </a:xfrm>
          <a:prstGeom prst="rect">
            <a:avLst/>
          </a:prstGeom>
        </p:spPr>
      </p:pic>
      <p:sp>
        <p:nvSpPr>
          <p:cNvPr id="5" name="Text 1"/>
          <p:cNvSpPr/>
          <p:nvPr>
            <p:custDataLst>
              <p:tags r:id="rId3"/>
            </p:custDataLst>
          </p:nvPr>
        </p:nvSpPr>
        <p:spPr>
          <a:xfrm>
            <a:off x="7043420" y="4696460"/>
            <a:ext cx="4780915" cy="5010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endParaRPr lang="zh-CN" altLang="en-US" sz="24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" name="Text 2"/>
          <p:cNvSpPr/>
          <p:nvPr>
            <p:custDataLst>
              <p:tags r:id="rId4"/>
            </p:custDataLst>
          </p:nvPr>
        </p:nvSpPr>
        <p:spPr>
          <a:xfrm>
            <a:off x="6911340" y="4239260"/>
            <a:ext cx="4780915" cy="5010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缺陷检测转为</a:t>
            </a:r>
            <a:r>
              <a:rPr lang="en-US" altLang="zh-CN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C++</a:t>
            </a:r>
            <a:r>
              <a:rPr lang="zh-CN" alt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代码</a:t>
            </a:r>
            <a:endParaRPr lang="zh-CN" altLang="en-US" sz="24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7" name="Text 3"/>
          <p:cNvSpPr/>
          <p:nvPr>
            <p:custDataLst>
              <p:tags r:id="rId5"/>
            </p:custDataLst>
          </p:nvPr>
        </p:nvSpPr>
        <p:spPr>
          <a:xfrm>
            <a:off x="6911340" y="3362960"/>
            <a:ext cx="4780915" cy="5010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altLang="zh-CN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CMake</a:t>
            </a:r>
            <a:r>
              <a:rPr lang="zh-CN" alt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编译</a:t>
            </a:r>
            <a:r>
              <a:rPr lang="en-US" altLang="zh-CN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opencv</a:t>
            </a:r>
            <a:endParaRPr lang="en-US" altLang="zh-CN" sz="24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8" name="Text 4"/>
          <p:cNvSpPr/>
          <p:nvPr>
            <p:custDataLst>
              <p:tags r:id="rId6"/>
            </p:custDataLst>
          </p:nvPr>
        </p:nvSpPr>
        <p:spPr>
          <a:xfrm>
            <a:off x="6911340" y="2486660"/>
            <a:ext cx="4780915" cy="5010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altLang="zh-CN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MFC</a:t>
            </a:r>
            <a:endParaRPr lang="en-US" altLang="zh-CN" sz="24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Text 5"/>
          <p:cNvSpPr/>
          <p:nvPr>
            <p:custDataLst>
              <p:tags r:id="rId7"/>
            </p:custDataLst>
          </p:nvPr>
        </p:nvSpPr>
        <p:spPr>
          <a:xfrm>
            <a:off x="6911340" y="1610360"/>
            <a:ext cx="4780915" cy="5010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altLang="zh-CN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QT</a:t>
            </a:r>
            <a:endParaRPr lang="en-US" altLang="zh-CN" sz="24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0" name="Text 6"/>
          <p:cNvSpPr/>
          <p:nvPr>
            <p:custDataLst>
              <p:tags r:id="rId8"/>
            </p:custDataLst>
          </p:nvPr>
        </p:nvSpPr>
        <p:spPr>
          <a:xfrm>
            <a:off x="5926455" y="1610360"/>
            <a:ext cx="821055" cy="50165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7"/>
          <p:cNvSpPr/>
          <p:nvPr>
            <p:custDataLst>
              <p:tags r:id="rId9"/>
            </p:custDataLst>
          </p:nvPr>
        </p:nvSpPr>
        <p:spPr>
          <a:xfrm>
            <a:off x="5926455" y="2486660"/>
            <a:ext cx="821055" cy="50165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8"/>
          <p:cNvSpPr/>
          <p:nvPr>
            <p:custDataLst>
              <p:tags r:id="rId10"/>
            </p:custDataLst>
          </p:nvPr>
        </p:nvSpPr>
        <p:spPr>
          <a:xfrm>
            <a:off x="5926455" y="3362960"/>
            <a:ext cx="821055" cy="50165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9"/>
          <p:cNvSpPr/>
          <p:nvPr>
            <p:custDataLst>
              <p:tags r:id="rId11"/>
            </p:custDataLst>
          </p:nvPr>
        </p:nvSpPr>
        <p:spPr>
          <a:xfrm>
            <a:off x="5926455" y="4239260"/>
            <a:ext cx="821055" cy="50165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0"/>
          <p:cNvSpPr/>
          <p:nvPr>
            <p:custDataLst>
              <p:tags r:id="rId12"/>
            </p:custDataLst>
          </p:nvPr>
        </p:nvSpPr>
        <p:spPr>
          <a:xfrm>
            <a:off x="6058535" y="4696460"/>
            <a:ext cx="821055" cy="50165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Text 11"/>
          <p:cNvSpPr/>
          <p:nvPr>
            <p:custDataLst>
              <p:tags r:id="rId13"/>
            </p:custDataLst>
          </p:nvPr>
        </p:nvSpPr>
        <p:spPr>
          <a:xfrm>
            <a:off x="6058535" y="5572760"/>
            <a:ext cx="821055" cy="50165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7" name="Text 13"/>
          <p:cNvSpPr/>
          <p:nvPr/>
        </p:nvSpPr>
        <p:spPr>
          <a:xfrm>
            <a:off x="396240" y="1991995"/>
            <a:ext cx="3239135" cy="16764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en-US" sz="8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 rot="5400000">
            <a:off x="451485" y="628205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9" name="Text 15"/>
          <p:cNvSpPr/>
          <p:nvPr/>
        </p:nvSpPr>
        <p:spPr>
          <a:xfrm rot="5400000">
            <a:off x="451485" y="628205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 rot="5400000">
            <a:off x="713740" y="628205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1" name="Text 17"/>
          <p:cNvSpPr/>
          <p:nvPr/>
        </p:nvSpPr>
        <p:spPr>
          <a:xfrm rot="5400000">
            <a:off x="713740" y="628205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 rot="5400000">
            <a:off x="975995" y="628205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3" name="Text 19"/>
          <p:cNvSpPr/>
          <p:nvPr/>
        </p:nvSpPr>
        <p:spPr>
          <a:xfrm rot="5400000">
            <a:off x="975995" y="628205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 rot="5400000">
            <a:off x="1238250" y="6282055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 rot="5400000">
            <a:off x="1238250" y="628205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 rot="5400000">
            <a:off x="10593705" y="314960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7" name="Text 23"/>
          <p:cNvSpPr/>
          <p:nvPr/>
        </p:nvSpPr>
        <p:spPr>
          <a:xfrm rot="5400000">
            <a:off x="10593705" y="314960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 rot="5400000">
            <a:off x="11007090" y="314960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9" name="Text 25"/>
          <p:cNvSpPr/>
          <p:nvPr/>
        </p:nvSpPr>
        <p:spPr>
          <a:xfrm rot="5400000">
            <a:off x="11007090" y="314960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 rot="5400000">
            <a:off x="11420475" y="314960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31" name="Text 27"/>
          <p:cNvSpPr/>
          <p:nvPr/>
        </p:nvSpPr>
        <p:spPr>
          <a:xfrm rot="5400000">
            <a:off x="11420475" y="314960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620395" y="3496310"/>
            <a:ext cx="4064000" cy="7366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6-d3l4jkgs8jdo4os5eks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2230"/>
            <a:ext cx="12192000" cy="69202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8140" y="4149090"/>
            <a:ext cx="7569200" cy="22917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altLang="zh-CN" sz="7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QT</a:t>
            </a:r>
            <a:endParaRPr lang="en-US" altLang="zh-CN" sz="72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 rot="5400000">
            <a:off x="10868660" y="23177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Text 2"/>
          <p:cNvSpPr/>
          <p:nvPr/>
        </p:nvSpPr>
        <p:spPr>
          <a:xfrm rot="5400000">
            <a:off x="10868660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rot="5400000">
            <a:off x="11130915" y="23177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7" name="Text 4"/>
          <p:cNvSpPr/>
          <p:nvPr/>
        </p:nvSpPr>
        <p:spPr>
          <a:xfrm rot="5400000">
            <a:off x="11130915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 rot="5400000">
            <a:off x="11393170" y="23177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9" name="Text 6"/>
          <p:cNvSpPr/>
          <p:nvPr/>
        </p:nvSpPr>
        <p:spPr>
          <a:xfrm rot="5400000">
            <a:off x="11393170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rot="5400000">
            <a:off x="11655425" y="231775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 rot="5400000">
            <a:off x="11655425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8140" y="2680970"/>
            <a:ext cx="2778760" cy="179260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309225" y="6104890"/>
            <a:ext cx="1252855" cy="16891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1"/>
          <p:cNvSpPr/>
          <p:nvPr/>
        </p:nvSpPr>
        <p:spPr>
          <a:xfrm>
            <a:off x="10309225" y="6104890"/>
            <a:ext cx="1252855" cy="1689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5-d3l4jk8s8jdo4os5ekr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4345" y="3986530"/>
            <a:ext cx="5334635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979795" y="3986530"/>
            <a:ext cx="5335270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91490" y="252730"/>
            <a:ext cx="6096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QT</a:t>
            </a:r>
            <a:endParaRPr lang="en-US" sz="18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Shape 5"/>
          <p:cNvSpPr/>
          <p:nvPr/>
        </p:nvSpPr>
        <p:spPr>
          <a:xfrm rot="5400000">
            <a:off x="1086802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2" name="Text 6"/>
          <p:cNvSpPr/>
          <p:nvPr/>
        </p:nvSpPr>
        <p:spPr>
          <a:xfrm rot="5400000">
            <a:off x="1086802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 rot="5400000">
            <a:off x="11130280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8"/>
          <p:cNvSpPr/>
          <p:nvPr/>
        </p:nvSpPr>
        <p:spPr>
          <a:xfrm rot="5400000">
            <a:off x="1113028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 rot="5400000">
            <a:off x="1139253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6" name="Text 10"/>
          <p:cNvSpPr/>
          <p:nvPr/>
        </p:nvSpPr>
        <p:spPr>
          <a:xfrm rot="5400000">
            <a:off x="1139253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 rot="5400000">
            <a:off x="11654790" y="368300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 rot="5400000">
            <a:off x="1165479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1" name="Text 15"/>
          <p:cNvSpPr/>
          <p:nvPr/>
        </p:nvSpPr>
        <p:spPr>
          <a:xfrm>
            <a:off x="474345" y="1203960"/>
            <a:ext cx="4919980" cy="5772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491490" y="1203960"/>
            <a:ext cx="7981315" cy="149796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注册QT账户，下载安装</a:t>
            </a:r>
            <a:endParaRPr lang="en-US" sz="16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00000"/>
              </a:lnSpc>
            </a:pPr>
            <a:endParaRPr lang="zh-CN" altLang="en-US" sz="16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650" y="1781175"/>
            <a:ext cx="7336155" cy="46932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5-d3l4jk8s8jdo4os5ekr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4345" y="3986530"/>
            <a:ext cx="5334635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979795" y="3986530"/>
            <a:ext cx="5335270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91490" y="252730"/>
            <a:ext cx="6096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QT</a:t>
            </a:r>
            <a:endParaRPr lang="en-US" sz="18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Shape 5"/>
          <p:cNvSpPr/>
          <p:nvPr/>
        </p:nvSpPr>
        <p:spPr>
          <a:xfrm rot="5400000">
            <a:off x="1086802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2" name="Text 6"/>
          <p:cNvSpPr/>
          <p:nvPr/>
        </p:nvSpPr>
        <p:spPr>
          <a:xfrm rot="5400000">
            <a:off x="1086802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 rot="5400000">
            <a:off x="11130280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8"/>
          <p:cNvSpPr/>
          <p:nvPr/>
        </p:nvSpPr>
        <p:spPr>
          <a:xfrm rot="5400000">
            <a:off x="1113028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 rot="5400000">
            <a:off x="1139253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6" name="Text 10"/>
          <p:cNvSpPr/>
          <p:nvPr/>
        </p:nvSpPr>
        <p:spPr>
          <a:xfrm rot="5400000">
            <a:off x="1139253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 rot="5400000">
            <a:off x="11654790" y="368300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 rot="5400000">
            <a:off x="1165479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1" name="Text 15"/>
          <p:cNvSpPr/>
          <p:nvPr/>
        </p:nvSpPr>
        <p:spPr>
          <a:xfrm>
            <a:off x="474345" y="1203960"/>
            <a:ext cx="4919980" cy="5772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396240" y="1117600"/>
            <a:ext cx="7981315" cy="149796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zh-CN" alt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创建带组件的</a:t>
            </a: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QT</a:t>
            </a:r>
            <a:r>
              <a:rPr lang="zh-CN" alt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</a:t>
            </a:r>
            <a:endParaRPr lang="en-US" sz="16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00000"/>
              </a:lnSpc>
            </a:pPr>
            <a:endParaRPr lang="zh-CN" altLang="en-US" sz="1600" dirty="0"/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0800" y="3784600"/>
            <a:ext cx="3983990" cy="2713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30" y="3784600"/>
            <a:ext cx="7037705" cy="27622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1960" y="1060450"/>
            <a:ext cx="6017260" cy="25539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6-d3l4jkgs8jdo4os5eks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2230"/>
            <a:ext cx="12192000" cy="69202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8140" y="4149090"/>
            <a:ext cx="7569200" cy="22917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altLang="zh-CN" sz="7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MFC</a:t>
            </a:r>
            <a:endParaRPr lang="en-US" altLang="zh-CN" sz="72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 rot="5400000">
            <a:off x="10868660" y="23177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Text 2"/>
          <p:cNvSpPr/>
          <p:nvPr/>
        </p:nvSpPr>
        <p:spPr>
          <a:xfrm rot="5400000">
            <a:off x="10868660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rot="5400000">
            <a:off x="11130915" y="23177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7" name="Text 4"/>
          <p:cNvSpPr/>
          <p:nvPr/>
        </p:nvSpPr>
        <p:spPr>
          <a:xfrm rot="5400000">
            <a:off x="11130915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 rot="5400000">
            <a:off x="11393170" y="23177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9" name="Text 6"/>
          <p:cNvSpPr/>
          <p:nvPr/>
        </p:nvSpPr>
        <p:spPr>
          <a:xfrm rot="5400000">
            <a:off x="11393170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rot="5400000">
            <a:off x="11655425" y="231775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 rot="5400000">
            <a:off x="11655425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8140" y="2680970"/>
            <a:ext cx="2778760" cy="179260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309225" y="6104890"/>
            <a:ext cx="1252855" cy="16891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1"/>
          <p:cNvSpPr/>
          <p:nvPr/>
        </p:nvSpPr>
        <p:spPr>
          <a:xfrm>
            <a:off x="10309225" y="6104890"/>
            <a:ext cx="1252855" cy="1689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5-d3l4jk8s8jdo4os5ekr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4345" y="3986530"/>
            <a:ext cx="5334635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979795" y="3986530"/>
            <a:ext cx="5335270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91490" y="252730"/>
            <a:ext cx="6096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MFC</a:t>
            </a:r>
            <a:endParaRPr lang="en-US" altLang="zh-CN" sz="18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Shape 5"/>
          <p:cNvSpPr/>
          <p:nvPr/>
        </p:nvSpPr>
        <p:spPr>
          <a:xfrm rot="5400000">
            <a:off x="1086802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2" name="Text 6"/>
          <p:cNvSpPr/>
          <p:nvPr/>
        </p:nvSpPr>
        <p:spPr>
          <a:xfrm rot="5400000">
            <a:off x="1086802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 rot="5400000">
            <a:off x="11130280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8"/>
          <p:cNvSpPr/>
          <p:nvPr/>
        </p:nvSpPr>
        <p:spPr>
          <a:xfrm rot="5400000">
            <a:off x="1113028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 rot="5400000">
            <a:off x="1139253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6" name="Text 10"/>
          <p:cNvSpPr/>
          <p:nvPr/>
        </p:nvSpPr>
        <p:spPr>
          <a:xfrm rot="5400000">
            <a:off x="1139253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 rot="5400000">
            <a:off x="11654790" y="368300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 rot="5400000">
            <a:off x="1165479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1" name="Text 15"/>
          <p:cNvSpPr/>
          <p:nvPr/>
        </p:nvSpPr>
        <p:spPr>
          <a:xfrm>
            <a:off x="474345" y="1203960"/>
            <a:ext cx="4919980" cy="5772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396240" y="1203960"/>
            <a:ext cx="7981315" cy="30378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VS2022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里添加</a:t>
            </a:r>
            <a:r>
              <a:rPr lang="en-US" altLang="zh-CN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MFC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组件</a:t>
            </a:r>
            <a:endParaRPr lang="zh-CN" altLang="en-US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00000"/>
              </a:lnSpc>
            </a:pPr>
            <a:endParaRPr lang="zh-CN" altLang="en-US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" y="1988820"/>
            <a:ext cx="3276600" cy="16573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5-d3l4jk8s8jdo4os5ekr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4345" y="3986530"/>
            <a:ext cx="5334635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979795" y="3986530"/>
            <a:ext cx="5335270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91490" y="252730"/>
            <a:ext cx="6096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MFC</a:t>
            </a:r>
            <a:endParaRPr lang="en-US" altLang="zh-CN" sz="18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Shape 5"/>
          <p:cNvSpPr/>
          <p:nvPr/>
        </p:nvSpPr>
        <p:spPr>
          <a:xfrm rot="5400000">
            <a:off x="1086802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2" name="Text 6"/>
          <p:cNvSpPr/>
          <p:nvPr/>
        </p:nvSpPr>
        <p:spPr>
          <a:xfrm rot="5400000">
            <a:off x="1086802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 rot="5400000">
            <a:off x="11130280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8"/>
          <p:cNvSpPr/>
          <p:nvPr/>
        </p:nvSpPr>
        <p:spPr>
          <a:xfrm rot="5400000">
            <a:off x="1113028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 rot="5400000">
            <a:off x="1139253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6" name="Text 10"/>
          <p:cNvSpPr/>
          <p:nvPr/>
        </p:nvSpPr>
        <p:spPr>
          <a:xfrm rot="5400000">
            <a:off x="1139253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 rot="5400000">
            <a:off x="11654790" y="368300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 rot="5400000">
            <a:off x="1165479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1" name="Text 15"/>
          <p:cNvSpPr/>
          <p:nvPr/>
        </p:nvSpPr>
        <p:spPr>
          <a:xfrm>
            <a:off x="474345" y="1203960"/>
            <a:ext cx="4919980" cy="5772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80720" y="1519555"/>
            <a:ext cx="8447405" cy="30378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endParaRPr lang="zh-CN" altLang="en-US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0720" y="95916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defTabSz="266700"/>
            <a:r>
              <a:rPr lang="zh-CN" alt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</a:t>
            </a:r>
            <a:r>
              <a:rPr lang="en-US" altLang="zh-CN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VS</a:t>
            </a:r>
            <a:r>
              <a:rPr lang="zh-CN" alt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中建立一个</a:t>
            </a:r>
            <a:r>
              <a:rPr lang="en-US" altLang="zh-CN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Console</a:t>
            </a:r>
            <a:r>
              <a:rPr lang="zh-CN" alt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工程</a:t>
            </a:r>
            <a:endParaRPr lang="zh-CN" altLang="en-US" sz="24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6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35" y="2458720"/>
            <a:ext cx="8408670" cy="3566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5-d3l4jk8s8jdo4os5ekr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4345" y="3986530"/>
            <a:ext cx="5334635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979795" y="3986530"/>
            <a:ext cx="5335270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91490" y="252730"/>
            <a:ext cx="6096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MFC</a:t>
            </a:r>
            <a:endParaRPr lang="en-US" altLang="zh-CN" sz="18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Shape 5"/>
          <p:cNvSpPr/>
          <p:nvPr/>
        </p:nvSpPr>
        <p:spPr>
          <a:xfrm rot="5400000">
            <a:off x="1086802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2" name="Text 6"/>
          <p:cNvSpPr/>
          <p:nvPr/>
        </p:nvSpPr>
        <p:spPr>
          <a:xfrm rot="5400000">
            <a:off x="1086802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 rot="5400000">
            <a:off x="11130280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8"/>
          <p:cNvSpPr/>
          <p:nvPr/>
        </p:nvSpPr>
        <p:spPr>
          <a:xfrm rot="5400000">
            <a:off x="1113028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 rot="5400000">
            <a:off x="1139253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6" name="Text 10"/>
          <p:cNvSpPr/>
          <p:nvPr/>
        </p:nvSpPr>
        <p:spPr>
          <a:xfrm rot="5400000">
            <a:off x="1139253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 rot="5400000">
            <a:off x="11654790" y="368300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 rot="5400000">
            <a:off x="1165479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1" name="Text 15"/>
          <p:cNvSpPr/>
          <p:nvPr/>
        </p:nvSpPr>
        <p:spPr>
          <a:xfrm>
            <a:off x="474345" y="1203960"/>
            <a:ext cx="4919980" cy="5772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80720" y="1519555"/>
            <a:ext cx="8447405" cy="30378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创建</a:t>
            </a:r>
            <a:r>
              <a:rPr lang="en-US" altLang="zh-CN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MFC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项目，在工具箱中添加按钮，双击按钮自动添加点击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事件函数</a:t>
            </a:r>
            <a:endParaRPr lang="zh-CN" altLang="en-US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20" y="2752725"/>
            <a:ext cx="8241030" cy="264604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680720" y="95916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defTabSz="266700"/>
            <a:r>
              <a:rPr lang="en-US" altLang="zh-CN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MFC</a:t>
            </a:r>
            <a:r>
              <a:rPr lang="zh-CN" alt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建立一个</a:t>
            </a:r>
            <a:r>
              <a:rPr lang="en-US" altLang="zh-CN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Dialog</a:t>
            </a:r>
            <a:r>
              <a:rPr lang="zh-CN" alt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程序</a:t>
            </a:r>
            <a:endParaRPr lang="zh-CN" altLang="en-US" sz="24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5-d3l4jk8s8jdo4os5ekr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4345" y="3986530"/>
            <a:ext cx="5334635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979795" y="3986530"/>
            <a:ext cx="5335270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91490" y="252730"/>
            <a:ext cx="6096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MFC</a:t>
            </a:r>
            <a:endParaRPr lang="en-US" altLang="zh-CN" sz="18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Shape 5"/>
          <p:cNvSpPr/>
          <p:nvPr/>
        </p:nvSpPr>
        <p:spPr>
          <a:xfrm rot="5400000">
            <a:off x="1086802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2" name="Text 6"/>
          <p:cNvSpPr/>
          <p:nvPr/>
        </p:nvSpPr>
        <p:spPr>
          <a:xfrm rot="5400000">
            <a:off x="1086802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 rot="5400000">
            <a:off x="11130280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8"/>
          <p:cNvSpPr/>
          <p:nvPr/>
        </p:nvSpPr>
        <p:spPr>
          <a:xfrm rot="5400000">
            <a:off x="1113028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 rot="5400000">
            <a:off x="1139253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6" name="Text 10"/>
          <p:cNvSpPr/>
          <p:nvPr/>
        </p:nvSpPr>
        <p:spPr>
          <a:xfrm rot="5400000">
            <a:off x="1139253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 rot="5400000">
            <a:off x="11654790" y="368300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 rot="5400000">
            <a:off x="1165479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1" name="Text 15"/>
          <p:cNvSpPr/>
          <p:nvPr/>
        </p:nvSpPr>
        <p:spPr>
          <a:xfrm>
            <a:off x="474345" y="1203960"/>
            <a:ext cx="4919980" cy="5772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396240" y="1673860"/>
            <a:ext cx="8447405" cy="30378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添加按钮，加载图片，</a:t>
            </a:r>
            <a:r>
              <a:rPr lang="en-US" altLang="zh-CN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OnPaint()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中添加绘制图片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代码</a:t>
            </a:r>
            <a:endParaRPr lang="zh-CN" altLang="en-US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pic>
        <p:nvPicPr>
          <p:cNvPr id="7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" y="2866390"/>
            <a:ext cx="7193915" cy="319214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396240" y="106648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defTabSz="266700"/>
            <a:r>
              <a:rPr lang="zh-CN" alt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用MFC建立图片显示的对话框程序</a:t>
            </a:r>
            <a:endParaRPr lang="zh-CN" altLang="en-US" sz="24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5-d3l4jk8s8jdo4os5ekr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4345" y="3986530"/>
            <a:ext cx="5334635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979795" y="3986530"/>
            <a:ext cx="5335270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91490" y="252730"/>
            <a:ext cx="6096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MFC</a:t>
            </a:r>
            <a:endParaRPr lang="en-US" altLang="zh-CN" sz="18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Shape 5"/>
          <p:cNvSpPr/>
          <p:nvPr/>
        </p:nvSpPr>
        <p:spPr>
          <a:xfrm rot="5400000">
            <a:off x="1086802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2" name="Text 6"/>
          <p:cNvSpPr/>
          <p:nvPr/>
        </p:nvSpPr>
        <p:spPr>
          <a:xfrm rot="5400000">
            <a:off x="1086802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 rot="5400000">
            <a:off x="11130280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8"/>
          <p:cNvSpPr/>
          <p:nvPr/>
        </p:nvSpPr>
        <p:spPr>
          <a:xfrm rot="5400000">
            <a:off x="1113028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 rot="5400000">
            <a:off x="1139253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6" name="Text 10"/>
          <p:cNvSpPr/>
          <p:nvPr/>
        </p:nvSpPr>
        <p:spPr>
          <a:xfrm rot="5400000">
            <a:off x="1139253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 rot="5400000">
            <a:off x="11654790" y="368300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 rot="5400000">
            <a:off x="1165479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1" name="Text 15"/>
          <p:cNvSpPr/>
          <p:nvPr/>
        </p:nvSpPr>
        <p:spPr>
          <a:xfrm>
            <a:off x="474345" y="1203960"/>
            <a:ext cx="4919980" cy="5772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396240" y="1635125"/>
            <a:ext cx="8447405" cy="30378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添加按钮，加载图片，</a:t>
            </a:r>
            <a:r>
              <a:rPr lang="en-US" altLang="zh-CN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OpenCV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读取图片为</a:t>
            </a:r>
            <a:r>
              <a:rPr lang="en-US" altLang="zh-CN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cv::Mat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，转换为</a:t>
            </a:r>
            <a:r>
              <a:rPr lang="en-US" altLang="zh-CN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CImage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展示</a:t>
            </a:r>
            <a:endParaRPr lang="zh-CN" altLang="en-US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6240" y="106648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defTabSz="266700"/>
            <a:r>
              <a:rPr lang="en-US" altLang="zh-CN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C++</a:t>
            </a:r>
            <a:r>
              <a:rPr lang="zh-CN" alt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</a:t>
            </a:r>
            <a:r>
              <a:rPr lang="en-US" altLang="zh-CN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Console</a:t>
            </a:r>
            <a:r>
              <a:rPr lang="zh-CN" alt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工程调用</a:t>
            </a:r>
            <a:r>
              <a:rPr lang="en-US" altLang="zh-CN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Opencv</a:t>
            </a:r>
            <a:endParaRPr lang="en-US" altLang="zh-CN" sz="24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3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3353435"/>
            <a:ext cx="6877050" cy="30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5-d3l4jk8s8jdo4os5ekr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4345" y="3986530"/>
            <a:ext cx="5334635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979795" y="3986530"/>
            <a:ext cx="5335270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91490" y="252730"/>
            <a:ext cx="6096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MFC</a:t>
            </a:r>
            <a:endParaRPr lang="en-US" altLang="zh-CN" sz="18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Shape 5"/>
          <p:cNvSpPr/>
          <p:nvPr/>
        </p:nvSpPr>
        <p:spPr>
          <a:xfrm rot="5400000">
            <a:off x="1086802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2" name="Text 6"/>
          <p:cNvSpPr/>
          <p:nvPr/>
        </p:nvSpPr>
        <p:spPr>
          <a:xfrm rot="5400000">
            <a:off x="1086802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 rot="5400000">
            <a:off x="11130280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8"/>
          <p:cNvSpPr/>
          <p:nvPr/>
        </p:nvSpPr>
        <p:spPr>
          <a:xfrm rot="5400000">
            <a:off x="1113028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 rot="5400000">
            <a:off x="1139253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6" name="Text 10"/>
          <p:cNvSpPr/>
          <p:nvPr/>
        </p:nvSpPr>
        <p:spPr>
          <a:xfrm rot="5400000">
            <a:off x="1139253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 rot="5400000">
            <a:off x="11654790" y="368300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 rot="5400000">
            <a:off x="1165479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1" name="Text 15"/>
          <p:cNvSpPr/>
          <p:nvPr/>
        </p:nvSpPr>
        <p:spPr>
          <a:xfrm>
            <a:off x="474345" y="1203960"/>
            <a:ext cx="4919980" cy="5772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396240" y="1635125"/>
            <a:ext cx="8447405" cy="30378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endParaRPr lang="zh-CN" altLang="en-US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6240" y="106648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defTabSz="266700"/>
            <a:r>
              <a:rPr lang="en-US" altLang="zh-CN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VS C++</a:t>
            </a:r>
            <a:r>
              <a:rPr lang="zh-CN" alt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</a:t>
            </a:r>
            <a:r>
              <a:rPr lang="en-US" altLang="zh-CN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openc</a:t>
            </a:r>
            <a:r>
              <a:rPr lang="zh-CN" alt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看图插件的使用</a:t>
            </a:r>
            <a:endParaRPr lang="zh-CN" altLang="en-US" sz="24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9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2116455"/>
            <a:ext cx="8427720" cy="4316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5-d3l4jk8s8jdo4os5ekr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4345" y="3986530"/>
            <a:ext cx="5334635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979795" y="3986530"/>
            <a:ext cx="5335270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91490" y="252730"/>
            <a:ext cx="6096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MFC</a:t>
            </a:r>
            <a:endParaRPr lang="en-US" altLang="zh-CN" sz="18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Shape 5"/>
          <p:cNvSpPr/>
          <p:nvPr/>
        </p:nvSpPr>
        <p:spPr>
          <a:xfrm rot="5400000">
            <a:off x="1086802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2" name="Text 6"/>
          <p:cNvSpPr/>
          <p:nvPr/>
        </p:nvSpPr>
        <p:spPr>
          <a:xfrm rot="5400000">
            <a:off x="1086802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 rot="5400000">
            <a:off x="11130280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8"/>
          <p:cNvSpPr/>
          <p:nvPr/>
        </p:nvSpPr>
        <p:spPr>
          <a:xfrm rot="5400000">
            <a:off x="1113028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 rot="5400000">
            <a:off x="1139253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6" name="Text 10"/>
          <p:cNvSpPr/>
          <p:nvPr/>
        </p:nvSpPr>
        <p:spPr>
          <a:xfrm rot="5400000">
            <a:off x="1139253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 rot="5400000">
            <a:off x="11654790" y="368300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 rot="5400000">
            <a:off x="1165479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1" name="Text 15"/>
          <p:cNvSpPr/>
          <p:nvPr/>
        </p:nvSpPr>
        <p:spPr>
          <a:xfrm>
            <a:off x="474345" y="1203960"/>
            <a:ext cx="4919980" cy="5772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396240" y="1635125"/>
            <a:ext cx="8447405" cy="30378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实现这个图片的膨胀、腐蚀、</a:t>
            </a:r>
            <a:r>
              <a:rPr lang="en-US" altLang="zh-CN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Canney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、高斯滤波、中值滤波、灰度化、二值化、霍夫变换（二种）操作。</a:t>
            </a:r>
            <a:endParaRPr lang="zh-CN" altLang="en-US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6240" y="106648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defTabSz="266700"/>
            <a:r>
              <a:rPr lang="en-US" altLang="zh-CN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C++</a:t>
            </a:r>
            <a:r>
              <a:rPr lang="zh-CN" alt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</a:t>
            </a:r>
            <a:r>
              <a:rPr lang="en-US" altLang="zh-CN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opencv</a:t>
            </a:r>
            <a:r>
              <a:rPr lang="zh-CN" alt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的一系列操作</a:t>
            </a:r>
            <a:endParaRPr lang="zh-CN" altLang="en-US" sz="24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6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590" y="2757170"/>
            <a:ext cx="3525520" cy="2424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90" y="2757170"/>
            <a:ext cx="3502660" cy="242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1940" y="2757170"/>
            <a:ext cx="3506470" cy="2383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5-d3l4jk8s8jdo4os5ekr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4345" y="3986530"/>
            <a:ext cx="5334635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979795" y="3986530"/>
            <a:ext cx="5335270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91490" y="252730"/>
            <a:ext cx="6096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MFC</a:t>
            </a:r>
            <a:endParaRPr lang="en-US" altLang="zh-CN" sz="18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Shape 5"/>
          <p:cNvSpPr/>
          <p:nvPr/>
        </p:nvSpPr>
        <p:spPr>
          <a:xfrm rot="5400000">
            <a:off x="1086802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2" name="Text 6"/>
          <p:cNvSpPr/>
          <p:nvPr/>
        </p:nvSpPr>
        <p:spPr>
          <a:xfrm rot="5400000">
            <a:off x="1086802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 rot="5400000">
            <a:off x="11130280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8"/>
          <p:cNvSpPr/>
          <p:nvPr/>
        </p:nvSpPr>
        <p:spPr>
          <a:xfrm rot="5400000">
            <a:off x="1113028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 rot="5400000">
            <a:off x="1139253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6" name="Text 10"/>
          <p:cNvSpPr/>
          <p:nvPr/>
        </p:nvSpPr>
        <p:spPr>
          <a:xfrm rot="5400000">
            <a:off x="1139253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 rot="5400000">
            <a:off x="11654790" y="368300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 rot="5400000">
            <a:off x="1165479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1" name="Text 15"/>
          <p:cNvSpPr/>
          <p:nvPr/>
        </p:nvSpPr>
        <p:spPr>
          <a:xfrm>
            <a:off x="474345" y="1203960"/>
            <a:ext cx="4919980" cy="5772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396240" y="1635125"/>
            <a:ext cx="8447405" cy="30378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altLang="zh-CN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c++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计时库</a:t>
            </a:r>
            <a:r>
              <a:rPr lang="en-US" altLang="zh-CN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chrono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，</a:t>
            </a:r>
            <a:r>
              <a:rPr lang="en-US" altLang="zh-CN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Windows API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的高性能计数器</a:t>
            </a:r>
            <a:endParaRPr lang="zh-CN" altLang="en-US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6240" y="106648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defTabSz="266700"/>
            <a:r>
              <a:rPr lang="en-US" altLang="zh-CN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C++</a:t>
            </a:r>
            <a:r>
              <a:rPr lang="zh-CN" alt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代码的计时程序的实现</a:t>
            </a:r>
            <a:endParaRPr lang="zh-CN" altLang="en-US" sz="24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3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2439670"/>
            <a:ext cx="4373880" cy="3032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00" y="2439670"/>
            <a:ext cx="4385310" cy="3020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6-d3l4jkgs8jdo4os5eks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2230"/>
            <a:ext cx="12192000" cy="69202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8140" y="4149090"/>
            <a:ext cx="8371840" cy="22917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altLang="zh-CN" sz="7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CMake</a:t>
            </a:r>
            <a:r>
              <a:rPr lang="zh-CN" altLang="en-US" sz="7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编译</a:t>
            </a:r>
            <a:r>
              <a:rPr lang="en-US" altLang="zh-CN" sz="7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opencv</a:t>
            </a:r>
            <a:endParaRPr lang="en-US" sz="72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 rot="5400000">
            <a:off x="10868660" y="23177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Text 2"/>
          <p:cNvSpPr/>
          <p:nvPr/>
        </p:nvSpPr>
        <p:spPr>
          <a:xfrm rot="5400000">
            <a:off x="10868660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rot="5400000">
            <a:off x="11130915" y="23177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7" name="Text 4"/>
          <p:cNvSpPr/>
          <p:nvPr/>
        </p:nvSpPr>
        <p:spPr>
          <a:xfrm rot="5400000">
            <a:off x="11130915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 rot="5400000">
            <a:off x="11393170" y="23177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9" name="Text 6"/>
          <p:cNvSpPr/>
          <p:nvPr/>
        </p:nvSpPr>
        <p:spPr>
          <a:xfrm rot="5400000">
            <a:off x="11393170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rot="5400000">
            <a:off x="11655425" y="231775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 rot="5400000">
            <a:off x="11655425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8140" y="2680970"/>
            <a:ext cx="2778760" cy="179260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309225" y="6104890"/>
            <a:ext cx="1252855" cy="16891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1"/>
          <p:cNvSpPr/>
          <p:nvPr/>
        </p:nvSpPr>
        <p:spPr>
          <a:xfrm>
            <a:off x="10309225" y="6104890"/>
            <a:ext cx="1252855" cy="1689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5-d3l4jk8s8jdo4os5ekr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4345" y="3986530"/>
            <a:ext cx="5334635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979795" y="3986530"/>
            <a:ext cx="5335270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91490" y="252730"/>
            <a:ext cx="6096000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CMake</a:t>
            </a:r>
            <a:r>
              <a:rPr lang="zh-CN" altLang="en-US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编译</a:t>
            </a:r>
            <a:r>
              <a:rPr lang="en-US" altLang="zh-CN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opencv</a:t>
            </a:r>
            <a:endParaRPr lang="en-US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00000"/>
              </a:lnSpc>
            </a:pPr>
            <a:endParaRPr lang="en-US" altLang="zh-CN" sz="18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Shape 5"/>
          <p:cNvSpPr/>
          <p:nvPr/>
        </p:nvSpPr>
        <p:spPr>
          <a:xfrm rot="5400000">
            <a:off x="1086802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2" name="Text 6"/>
          <p:cNvSpPr/>
          <p:nvPr/>
        </p:nvSpPr>
        <p:spPr>
          <a:xfrm rot="5400000">
            <a:off x="1086802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 rot="5400000">
            <a:off x="11130280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8"/>
          <p:cNvSpPr/>
          <p:nvPr/>
        </p:nvSpPr>
        <p:spPr>
          <a:xfrm rot="5400000">
            <a:off x="1113028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 rot="5400000">
            <a:off x="1139253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6" name="Text 10"/>
          <p:cNvSpPr/>
          <p:nvPr/>
        </p:nvSpPr>
        <p:spPr>
          <a:xfrm rot="5400000">
            <a:off x="1139253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 rot="5400000">
            <a:off x="11654790" y="368300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 rot="5400000">
            <a:off x="1165479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1" name="Text 15"/>
          <p:cNvSpPr/>
          <p:nvPr/>
        </p:nvSpPr>
        <p:spPr>
          <a:xfrm>
            <a:off x="474345" y="1203960"/>
            <a:ext cx="4919980" cy="5772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396240" y="1635125"/>
            <a:ext cx="8447405" cy="30378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克隆</a:t>
            </a:r>
            <a:r>
              <a:rPr lang="en-US" altLang="zh-CN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OpenCV 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主仓库</a:t>
            </a:r>
            <a:endParaRPr lang="zh-CN" altLang="en-US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git clone https://github.com/opencv/opencv.git</a:t>
            </a:r>
            <a:endParaRPr lang="en-US" altLang="zh-CN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just">
              <a:lnSpc>
                <a:spcPct val="10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克隆</a:t>
            </a:r>
            <a:r>
              <a:rPr lang="en-US" altLang="zh-CN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OpenCV 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扩展模块</a:t>
            </a:r>
            <a:endParaRPr lang="zh-CN" altLang="en-US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git clone https://github.com/opencv/opencv_contrib.git</a:t>
            </a:r>
            <a:endParaRPr lang="en-US" altLang="zh-CN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just">
              <a:lnSpc>
                <a:spcPct val="100000"/>
              </a:lnSpc>
            </a:pPr>
            <a:endParaRPr lang="en-US" altLang="zh-CN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C:\opencv\</a:t>
            </a:r>
            <a:endParaRPr lang="en-US" altLang="zh-CN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├──</a:t>
            </a:r>
            <a:r>
              <a:rPr lang="en-US" altLang="zh-CN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opencv\           # OpenCV 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源码</a:t>
            </a:r>
            <a:endParaRPr lang="zh-CN" altLang="en-US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├──</a:t>
            </a:r>
            <a:r>
              <a:rPr lang="en-US" altLang="zh-CN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opencv_contrib\   # 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扩展模块源码</a:t>
            </a:r>
            <a:endParaRPr lang="zh-CN" altLang="en-US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└──</a:t>
            </a:r>
            <a:r>
              <a:rPr lang="en-US" altLang="zh-CN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build\            # 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构建输出目录</a:t>
            </a:r>
            <a:endParaRPr lang="zh-CN" altLang="en-US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just">
              <a:lnSpc>
                <a:spcPct val="100000"/>
              </a:lnSpc>
            </a:pPr>
            <a:endParaRPr lang="en-US" altLang="zh-CN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opencv4.9.0 + cuda11.8</a:t>
            </a:r>
            <a:endParaRPr lang="en-US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6240" y="106648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defTabSz="266700"/>
            <a:r>
              <a:rPr lang="zh-CN" alt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利用</a:t>
            </a:r>
            <a:r>
              <a:rPr lang="en-US" altLang="zh-CN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CMake</a:t>
            </a:r>
            <a:r>
              <a:rPr lang="zh-CN" alt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实现源码</a:t>
            </a:r>
            <a:r>
              <a:rPr lang="en-US" altLang="zh-CN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opencv</a:t>
            </a:r>
            <a:r>
              <a:rPr lang="zh-CN" alt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的编译</a:t>
            </a:r>
            <a:endParaRPr lang="zh-CN" altLang="en-US" sz="24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23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0" y="1337310"/>
            <a:ext cx="4680585" cy="4659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5-d3l4jk8s8jdo4os5ekr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4345" y="3986530"/>
            <a:ext cx="5334635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979795" y="3986530"/>
            <a:ext cx="5335270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91490" y="252730"/>
            <a:ext cx="6096000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CMake</a:t>
            </a:r>
            <a:r>
              <a:rPr lang="zh-CN" altLang="en-US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编译</a:t>
            </a:r>
            <a:r>
              <a:rPr lang="en-US" altLang="zh-CN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opencv</a:t>
            </a:r>
            <a:endParaRPr lang="en-US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00000"/>
              </a:lnSpc>
            </a:pPr>
            <a:endParaRPr lang="en-US" altLang="zh-CN" sz="18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Shape 5"/>
          <p:cNvSpPr/>
          <p:nvPr/>
        </p:nvSpPr>
        <p:spPr>
          <a:xfrm rot="5400000">
            <a:off x="1086802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2" name="Text 6"/>
          <p:cNvSpPr/>
          <p:nvPr/>
        </p:nvSpPr>
        <p:spPr>
          <a:xfrm rot="5400000">
            <a:off x="1086802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 rot="5400000">
            <a:off x="11130280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8"/>
          <p:cNvSpPr/>
          <p:nvPr/>
        </p:nvSpPr>
        <p:spPr>
          <a:xfrm rot="5400000">
            <a:off x="1113028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 rot="5400000">
            <a:off x="1139253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6" name="Text 10"/>
          <p:cNvSpPr/>
          <p:nvPr/>
        </p:nvSpPr>
        <p:spPr>
          <a:xfrm rot="5400000">
            <a:off x="1139253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 rot="5400000">
            <a:off x="11654790" y="368300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 rot="5400000">
            <a:off x="1165479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1" name="Text 15"/>
          <p:cNvSpPr/>
          <p:nvPr/>
        </p:nvSpPr>
        <p:spPr>
          <a:xfrm>
            <a:off x="474345" y="1203960"/>
            <a:ext cx="4919980" cy="5772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396240" y="1635125"/>
            <a:ext cx="8447405" cy="30378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endParaRPr lang="en-US" altLang="zh-CN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algn="just">
              <a:lnSpc>
                <a:spcPct val="100000"/>
              </a:lnSpc>
            </a:pPr>
            <a:endParaRPr lang="en-US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6240" y="106648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defTabSz="266700"/>
            <a:r>
              <a:rPr lang="zh-CN" alt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利用</a:t>
            </a:r>
            <a:r>
              <a:rPr lang="en-US" altLang="zh-CN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CMake</a:t>
            </a:r>
            <a:r>
              <a:rPr lang="zh-CN" alt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实现源码</a:t>
            </a:r>
            <a:r>
              <a:rPr lang="en-US" altLang="zh-CN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opencv</a:t>
            </a:r>
            <a:r>
              <a:rPr lang="zh-CN" alt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的编译</a:t>
            </a:r>
            <a:endParaRPr lang="zh-CN" altLang="en-US" sz="24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35" y="1696085"/>
            <a:ext cx="5763260" cy="21786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625" y="1635125"/>
            <a:ext cx="5763260" cy="21132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535" y="4162425"/>
            <a:ext cx="6904990" cy="22415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6-d3l4jkgs8jdo4os5eks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2230"/>
            <a:ext cx="12192000" cy="69202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8140" y="4149090"/>
            <a:ext cx="9400540" cy="22917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zh-CN" altLang="en-US" sz="7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缺陷检测转为</a:t>
            </a:r>
            <a:r>
              <a:rPr lang="en-US" altLang="zh-CN" sz="7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C++</a:t>
            </a:r>
            <a:r>
              <a:rPr lang="zh-CN" altLang="en-US" sz="7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代码</a:t>
            </a:r>
            <a:endParaRPr lang="zh-CN" altLang="en-US" sz="72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00000"/>
              </a:lnSpc>
            </a:pPr>
            <a:endParaRPr lang="zh-CN" altLang="en-US" sz="72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 rot="5400000">
            <a:off x="10868660" y="23177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Text 2"/>
          <p:cNvSpPr/>
          <p:nvPr/>
        </p:nvSpPr>
        <p:spPr>
          <a:xfrm rot="5400000">
            <a:off x="10868660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rot="5400000">
            <a:off x="11130915" y="23177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7" name="Text 4"/>
          <p:cNvSpPr/>
          <p:nvPr/>
        </p:nvSpPr>
        <p:spPr>
          <a:xfrm rot="5400000">
            <a:off x="11130915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 rot="5400000">
            <a:off x="11393170" y="231775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9" name="Text 6"/>
          <p:cNvSpPr/>
          <p:nvPr/>
        </p:nvSpPr>
        <p:spPr>
          <a:xfrm rot="5400000">
            <a:off x="11393170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rot="5400000">
            <a:off x="11655425" y="231775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 rot="5400000">
            <a:off x="11655425" y="231775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8140" y="2680970"/>
            <a:ext cx="2778760" cy="179260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309225" y="6104890"/>
            <a:ext cx="1252855" cy="16891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1"/>
          <p:cNvSpPr/>
          <p:nvPr/>
        </p:nvSpPr>
        <p:spPr>
          <a:xfrm>
            <a:off x="10309225" y="6104890"/>
            <a:ext cx="1252855" cy="1689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5-d3l4jk8s8jdo4os5ekr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4345" y="3986530"/>
            <a:ext cx="5334635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979795" y="3986530"/>
            <a:ext cx="5335270" cy="2310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91490" y="252730"/>
            <a:ext cx="6096000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缺陷检测转为</a:t>
            </a:r>
            <a:r>
              <a:rPr lang="en-US" altLang="zh-CN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C++</a:t>
            </a:r>
            <a:r>
              <a:rPr lang="zh-CN" altLang="en-US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代码</a:t>
            </a:r>
            <a:endParaRPr lang="zh-CN" altLang="en-US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00000"/>
              </a:lnSpc>
            </a:pPr>
            <a:endParaRPr lang="en-US" altLang="zh-CN" sz="18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Shape 5"/>
          <p:cNvSpPr/>
          <p:nvPr/>
        </p:nvSpPr>
        <p:spPr>
          <a:xfrm rot="5400000">
            <a:off x="1086802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2" name="Text 6"/>
          <p:cNvSpPr/>
          <p:nvPr/>
        </p:nvSpPr>
        <p:spPr>
          <a:xfrm rot="5400000">
            <a:off x="1086802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 rot="5400000">
            <a:off x="11130280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8"/>
          <p:cNvSpPr/>
          <p:nvPr/>
        </p:nvSpPr>
        <p:spPr>
          <a:xfrm rot="5400000">
            <a:off x="1113028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 rot="5400000">
            <a:off x="11392535" y="36830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6" name="Text 10"/>
          <p:cNvSpPr/>
          <p:nvPr/>
        </p:nvSpPr>
        <p:spPr>
          <a:xfrm rot="5400000">
            <a:off x="11392535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 rot="5400000">
            <a:off x="11654790" y="368300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 rot="5400000">
            <a:off x="11654790" y="36830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396240" y="688975"/>
            <a:ext cx="114280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1" name="Text 15"/>
          <p:cNvSpPr/>
          <p:nvPr/>
        </p:nvSpPr>
        <p:spPr>
          <a:xfrm>
            <a:off x="474345" y="1203960"/>
            <a:ext cx="4919980" cy="57721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396240" y="1071880"/>
            <a:ext cx="8447405" cy="30378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添加按钮，用户可以选择图片进行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检测</a:t>
            </a:r>
            <a:endParaRPr lang="zh-CN" altLang="en-US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pic>
        <p:nvPicPr>
          <p:cNvPr id="6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65" y="2296160"/>
            <a:ext cx="7432040" cy="4104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3:05-d3l4jk8s8jdo4os5ekr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345" y="1276350"/>
            <a:ext cx="7549515" cy="20955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74345" y="688975"/>
            <a:ext cx="1134999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>
            <p:custDataLst>
              <p:tags r:id="rId2"/>
            </p:custDataLst>
          </p:nvPr>
        </p:nvSpPr>
        <p:spPr>
          <a:xfrm>
            <a:off x="1824355" y="5798503"/>
            <a:ext cx="262001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李宗效</a:t>
            </a:r>
            <a:endParaRPr lang="zh-CN" altLang="en-US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" name="Text 3"/>
          <p:cNvSpPr/>
          <p:nvPr>
            <p:custDataLst>
              <p:tags r:id="rId3"/>
            </p:custDataLst>
          </p:nvPr>
        </p:nvSpPr>
        <p:spPr>
          <a:xfrm>
            <a:off x="9058910" y="5798503"/>
            <a:ext cx="253555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时间：2025/12/24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rot="5400000">
            <a:off x="537210" y="351409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8" name="Text 5"/>
          <p:cNvSpPr/>
          <p:nvPr/>
        </p:nvSpPr>
        <p:spPr>
          <a:xfrm rot="5400000">
            <a:off x="537210" y="351409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799465" y="351409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0" name="Text 7"/>
          <p:cNvSpPr/>
          <p:nvPr/>
        </p:nvSpPr>
        <p:spPr>
          <a:xfrm rot="5400000">
            <a:off x="799465" y="351409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 rot="5400000">
            <a:off x="1061720" y="3514090"/>
            <a:ext cx="168910" cy="16954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2" name="Text 9"/>
          <p:cNvSpPr/>
          <p:nvPr/>
        </p:nvSpPr>
        <p:spPr>
          <a:xfrm rot="5400000">
            <a:off x="1061720" y="351409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rot="5400000">
            <a:off x="1323975" y="3514090"/>
            <a:ext cx="168910" cy="16954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 rot="5400000">
            <a:off x="1323975" y="3514090"/>
            <a:ext cx="168910" cy="16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>
            <p:custDataLst>
              <p:tags r:id="rId4"/>
            </p:custDataLst>
          </p:nvPr>
        </p:nvSpPr>
        <p:spPr>
          <a:xfrm rot="5400000">
            <a:off x="537210" y="5860415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16" name="Text 13"/>
          <p:cNvSpPr/>
          <p:nvPr/>
        </p:nvSpPr>
        <p:spPr>
          <a:xfrm rot="5400000">
            <a:off x="537210" y="5860415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>
            <p:custDataLst>
              <p:tags r:id="rId5"/>
            </p:custDataLst>
          </p:nvPr>
        </p:nvSpPr>
        <p:spPr>
          <a:xfrm rot="5400000">
            <a:off x="950595" y="5860415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18" name="Text 15"/>
          <p:cNvSpPr/>
          <p:nvPr/>
        </p:nvSpPr>
        <p:spPr>
          <a:xfrm rot="5400000">
            <a:off x="950595" y="5860415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>
            <p:custDataLst>
              <p:tags r:id="rId6"/>
            </p:custDataLst>
          </p:nvPr>
        </p:nvSpPr>
        <p:spPr>
          <a:xfrm rot="5400000">
            <a:off x="1363980" y="5860415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0" name="Text 17"/>
          <p:cNvSpPr/>
          <p:nvPr/>
        </p:nvSpPr>
        <p:spPr>
          <a:xfrm rot="5400000">
            <a:off x="1363980" y="5860415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37210" y="6399530"/>
            <a:ext cx="1122807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2" name="Shape 19"/>
          <p:cNvSpPr/>
          <p:nvPr>
            <p:custDataLst>
              <p:tags r:id="rId7"/>
            </p:custDataLst>
          </p:nvPr>
        </p:nvSpPr>
        <p:spPr>
          <a:xfrm rot="5400000">
            <a:off x="7710805" y="5860415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3" name="Text 20"/>
          <p:cNvSpPr/>
          <p:nvPr/>
        </p:nvSpPr>
        <p:spPr>
          <a:xfrm rot="5400000">
            <a:off x="7710805" y="5860415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1"/>
          <p:cNvSpPr/>
          <p:nvPr>
            <p:custDataLst>
              <p:tags r:id="rId8"/>
            </p:custDataLst>
          </p:nvPr>
        </p:nvSpPr>
        <p:spPr>
          <a:xfrm rot="5400000">
            <a:off x="8124190" y="5860415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5" name="Text 22"/>
          <p:cNvSpPr/>
          <p:nvPr/>
        </p:nvSpPr>
        <p:spPr>
          <a:xfrm rot="5400000">
            <a:off x="8124190" y="5860415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3"/>
          <p:cNvSpPr/>
          <p:nvPr>
            <p:custDataLst>
              <p:tags r:id="rId9"/>
            </p:custDataLst>
          </p:nvPr>
        </p:nvSpPr>
        <p:spPr>
          <a:xfrm rot="5400000">
            <a:off x="8537575" y="5860415"/>
            <a:ext cx="276225" cy="276225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7" name="Text 24"/>
          <p:cNvSpPr/>
          <p:nvPr/>
        </p:nvSpPr>
        <p:spPr>
          <a:xfrm rot="5400000">
            <a:off x="8537575" y="5860415"/>
            <a:ext cx="276225" cy="276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84.5,&quot;left&quot;:477.05,&quot;top&quot;:93.8,&quot;width&quot;:454}"/>
</p:tagLst>
</file>

<file path=ppt/tags/tag2.xml><?xml version="1.0" encoding="utf-8"?>
<p:tagLst xmlns:p="http://schemas.openxmlformats.org/presentationml/2006/main">
  <p:tag name="KSO_WM_DIAGRAM_VIRTUALLY_FRAME" val="{&quot;height&quot;:384.5,&quot;left&quot;:466.65,&quot;top&quot;:126.8,&quot;width&quot;:454}"/>
</p:tagLst>
</file>

<file path=ppt/tags/tag3.xml><?xml version="1.0" encoding="utf-8"?>
<p:tagLst xmlns:p="http://schemas.openxmlformats.org/presentationml/2006/main">
  <p:tag name="KSO_WM_DIAGRAM_VIRTUALLY_FRAME" val="{&quot;height&quot;:384.5,&quot;left&quot;:466.65,&quot;top&quot;:126.8,&quot;width&quot;:454}"/>
</p:tagLst>
</file>

<file path=ppt/tags/tag4.xml><?xml version="1.0" encoding="utf-8"?>
<p:tagLst xmlns:p="http://schemas.openxmlformats.org/presentationml/2006/main">
  <p:tag name="KSO_WM_DIAGRAM_VIRTUALLY_FRAME" val="{&quot;height&quot;:384.5,&quot;left&quot;:466.65,&quot;top&quot;:126.8,&quot;width&quot;:454}"/>
</p:tagLst>
</file>

<file path=ppt/tags/tag5.xml><?xml version="1.0" encoding="utf-8"?>
<p:tagLst xmlns:p="http://schemas.openxmlformats.org/presentationml/2006/main">
  <p:tag name="KSO_WM_DIAGRAM_VIRTUALLY_FRAME" val="{&quot;height&quot;:384.5,&quot;left&quot;:466.65,&quot;top&quot;:126.8,&quot;width&quot;:454}"/>
</p:tagLst>
</file>

<file path=ppt/tags/tag6.xml><?xml version="1.0" encoding="utf-8"?>
<p:tagLst xmlns:p="http://schemas.openxmlformats.org/presentationml/2006/main">
  <p:tag name="KSO_WM_DIAGRAM_VIRTUALLY_FRAME" val="{&quot;height&quot;:384.5,&quot;left&quot;:466.65,&quot;top&quot;:126.8,&quot;width&quot;:454}"/>
</p:tagLst>
</file>

<file path=ppt/tags/tag7.xml><?xml version="1.0" encoding="utf-8"?>
<p:tagLst xmlns:p="http://schemas.openxmlformats.org/presentationml/2006/main">
  <p:tag name="KSO_WM_DIAGRAM_VIRTUALLY_FRAME" val="{&quot;height&quot;:384.5,&quot;left&quot;:466.65,&quot;top&quot;:126.8,&quot;width&quot;:454}"/>
</p:tagLst>
</file>

<file path=ppt/tags/tag8.xml><?xml version="1.0" encoding="utf-8"?>
<p:tagLst xmlns:p="http://schemas.openxmlformats.org/presentationml/2006/main">
  <p:tag name="KSO_WM_DIAGRAM_VIRTUALLY_FRAME" val="{&quot;height&quot;:384.5,&quot;left&quot;:466.65,&quot;top&quot;:126.8,&quot;width&quot;:454}"/>
</p:tagLst>
</file>

<file path=ppt/tags/tag9.xml><?xml version="1.0" encoding="utf-8"?>
<p:tagLst xmlns:p="http://schemas.openxmlformats.org/presentationml/2006/main">
  <p:tag name="KSO_WM_DIAGRAM_VIRTUALLY_FRAME" val="{&quot;height&quot;:384.5,&quot;left&quot;:466.65,&quot;top&quot;:126.8,&quot;width&quot;:454}"/>
</p:tagLst>
</file>

<file path=ppt/tags/tag10.xml><?xml version="1.0" encoding="utf-8"?>
<p:tagLst xmlns:p="http://schemas.openxmlformats.org/presentationml/2006/main">
  <p:tag name="KSO_WM_DIAGRAM_VIRTUALLY_FRAME" val="{&quot;height&quot;:384.5,&quot;left&quot;:477.05,&quot;top&quot;:93.8,&quot;width&quot;:454}"/>
</p:tagLst>
</file>

<file path=ppt/tags/tag11.xml><?xml version="1.0" encoding="utf-8"?>
<p:tagLst xmlns:p="http://schemas.openxmlformats.org/presentationml/2006/main">
  <p:tag name="KSO_WM_DIAGRAM_VIRTUALLY_FRAME" val="{&quot;height&quot;:384.5,&quot;left&quot;:477.05,&quot;top&quot;:93.8,&quot;width&quot;:454}"/>
</p:tagLst>
</file>

<file path=ppt/tags/tag12.xml><?xml version="1.0" encoding="utf-8"?>
<p:tagLst xmlns:p="http://schemas.openxmlformats.org/presentationml/2006/main">
  <p:tag name="KSO_WM_DIAGRAM_VIRTUALLY_FRAME" val="{&quot;height&quot;:31.4,&quot;left&quot;:42.3,&quot;top&quot;:456.5750393700788,&quot;width&quot;:870.65}"/>
</p:tagLst>
</file>

<file path=ppt/tags/tag13.xml><?xml version="1.0" encoding="utf-8"?>
<p:tagLst xmlns:p="http://schemas.openxmlformats.org/presentationml/2006/main">
  <p:tag name="KSO_WM_DIAGRAM_VIRTUALLY_FRAME" val="{&quot;height&quot;:31.4,&quot;left&quot;:42.3,&quot;top&quot;:456.5750393700788,&quot;width&quot;:870.65}"/>
</p:tagLst>
</file>

<file path=ppt/tags/tag14.xml><?xml version="1.0" encoding="utf-8"?>
<p:tagLst xmlns:p="http://schemas.openxmlformats.org/presentationml/2006/main">
  <p:tag name="KSO_WM_DIAGRAM_VIRTUALLY_FRAME" val="{&quot;height&quot;:31.4,&quot;left&quot;:42.3,&quot;top&quot;:456.5750393700788,&quot;width&quot;:870.65}"/>
</p:tagLst>
</file>

<file path=ppt/tags/tag15.xml><?xml version="1.0" encoding="utf-8"?>
<p:tagLst xmlns:p="http://schemas.openxmlformats.org/presentationml/2006/main">
  <p:tag name="KSO_WM_DIAGRAM_VIRTUALLY_FRAME" val="{&quot;height&quot;:31.4,&quot;left&quot;:42.3,&quot;top&quot;:456.5750393700788,&quot;width&quot;:870.65}"/>
</p:tagLst>
</file>

<file path=ppt/tags/tag16.xml><?xml version="1.0" encoding="utf-8"?>
<p:tagLst xmlns:p="http://schemas.openxmlformats.org/presentationml/2006/main">
  <p:tag name="KSO_WM_DIAGRAM_VIRTUALLY_FRAME" val="{&quot;height&quot;:31.4,&quot;left&quot;:42.3,&quot;top&quot;:456.5750393700788,&quot;width&quot;:870.65}"/>
</p:tagLst>
</file>

<file path=ppt/tags/tag17.xml><?xml version="1.0" encoding="utf-8"?>
<p:tagLst xmlns:p="http://schemas.openxmlformats.org/presentationml/2006/main">
  <p:tag name="KSO_WM_DIAGRAM_VIRTUALLY_FRAME" val="{&quot;height&quot;:31.4,&quot;left&quot;:42.3,&quot;top&quot;:456.5750393700788,&quot;width&quot;:870.65}"/>
</p:tagLst>
</file>

<file path=ppt/tags/tag18.xml><?xml version="1.0" encoding="utf-8"?>
<p:tagLst xmlns:p="http://schemas.openxmlformats.org/presentationml/2006/main">
  <p:tag name="KSO_WM_DIAGRAM_VIRTUALLY_FRAME" val="{&quot;height&quot;:31.4,&quot;left&quot;:42.3,&quot;top&quot;:456.5750393700788,&quot;width&quot;:870.65}"/>
</p:tagLst>
</file>

<file path=ppt/tags/tag19.xml><?xml version="1.0" encoding="utf-8"?>
<p:tagLst xmlns:p="http://schemas.openxmlformats.org/presentationml/2006/main">
  <p:tag name="KSO_WM_DIAGRAM_VIRTUALLY_FRAME" val="{&quot;height&quot;:31.4,&quot;left&quot;:42.3,&quot;top&quot;:456.5750393700788,&quot;width&quot;:870.65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845</Words>
  <Application>WPS 演示</Application>
  <PresentationFormat>On-screen Show (16:9)</PresentationFormat>
  <Paragraphs>131</Paragraphs>
  <Slides>20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宋体</vt:lpstr>
      <vt:lpstr>Wingdings</vt:lpstr>
      <vt:lpstr>MiSans</vt:lpstr>
      <vt:lpstr>MiSans</vt:lpstr>
      <vt:lpstr>Calibri</vt:lpstr>
      <vt:lpstr>微软雅黑</vt:lpstr>
      <vt:lpstr>Arial Unicode MS</vt:lpstr>
      <vt:lpstr>等线</vt:lpstr>
      <vt:lpstr>Calibri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AI视觉缺陷检测实战汇报</dc:title>
  <dc:creator>Kimi</dc:creator>
  <dc:subject>AI视觉缺陷检测实战汇报</dc:subject>
  <cp:lastModifiedBy>●ら任┊逍遥</cp:lastModifiedBy>
  <cp:revision>44</cp:revision>
  <dcterms:created xsi:type="dcterms:W3CDTF">2025-12-15T07:43:00Z</dcterms:created>
  <dcterms:modified xsi:type="dcterms:W3CDTF">2025-12-21T09:28:21Z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{"Label":"AI视觉缺陷检测实战汇报","ContentProducer":"001191110108MACG2KBH8F10000","ProduceID":"d4vrjnpkotd00jote7dg","ReservedCode1":"","ContentPropagator":"001191110108MACG2KBH8F20000","PropagateID":"d4vrjnpkotd00jote7dg","ReservedCode2":""}</vt:lpwstr>
  </property>
  <property fmtid="{D5CDD505-2E9C-101B-9397-08002B2CF9AE}" pid="3" name="KSOProductBuildVer">
    <vt:lpwstr>2052-12.1.0.24034</vt:lpwstr>
  </property>
  <property fmtid="{D5CDD505-2E9C-101B-9397-08002B2CF9AE}" pid="4" name="ICV">
    <vt:lpwstr>A0815CDA196C416B91AA684AFDB32EFC_12</vt:lpwstr>
  </property>
</Properties>
</file>